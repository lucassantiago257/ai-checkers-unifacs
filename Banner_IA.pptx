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h1O8JS7RXJ1A2jQPdwEnkYkYRW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114" y="1332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rmAutofit/>
          </a:bodyPr>
          <a:lstStyle>
            <a:lvl1pPr lvl="0" algn="ctr"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DD">
            <a:alpha val="23921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sz="20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rmAutofit/>
          </a:bodyPr>
          <a:lstStyle>
            <a:lvl1pPr marL="457200" marR="0" lvl="0" indent="-1187450" algn="l" rtl="0"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sz="15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66800" algn="l" rtl="0"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831850" algn="l" rtl="0"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•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repositorio.ufu.br/handle/123456789/18354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5F1">
            <a:alpha val="23921"/>
          </a:srgbClr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-161213" y="-55274"/>
            <a:ext cx="32412863" cy="432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500" b="0" i="0" u="sng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ctrTitle"/>
          </p:nvPr>
        </p:nvSpPr>
        <p:spPr>
          <a:xfrm>
            <a:off x="900251" y="1546641"/>
            <a:ext cx="30749932" cy="57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sz="5400" b="1" dirty="0"/>
              <a:t>Inteligência Artificial</a:t>
            </a:r>
            <a:br>
              <a:rPr lang="pt-BR" sz="5400" b="1" dirty="0"/>
            </a:br>
            <a:br>
              <a:rPr lang="pt-BR" sz="5400" dirty="0"/>
            </a:br>
            <a:br>
              <a:rPr lang="pt-BR" sz="9600" dirty="0"/>
            </a:br>
            <a:br>
              <a:rPr lang="pt-BR" sz="9600" dirty="0"/>
            </a:br>
            <a:r>
              <a:rPr lang="pt-BR" sz="4900" b="1" dirty="0"/>
              <a:t>GUILHERME ORNELLAS CARVALHO; JOÃO VICTOR MORAES LEITE; JORGE HENRIQUE RAMOS GANDOFI; LUCAS CARVALHO SANTIAGO; VICTOR OLIVEIRA CERQUEIRA; Orientador ADAILTON CERQUEIRA JUNIOR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sz="4400" dirty="0"/>
          </a:p>
        </p:txBody>
      </p:sp>
      <p:sp>
        <p:nvSpPr>
          <p:cNvPr id="23" name="Google Shape;23;p1"/>
          <p:cNvSpPr txBox="1">
            <a:spLocks noGrp="1"/>
          </p:cNvSpPr>
          <p:nvPr>
            <p:ph type="subTitle" idx="1"/>
          </p:nvPr>
        </p:nvSpPr>
        <p:spPr>
          <a:xfrm>
            <a:off x="609015" y="7653912"/>
            <a:ext cx="15119989" cy="32305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6600" b="1" dirty="0">
                <a:solidFill>
                  <a:schemeClr val="dk1"/>
                </a:solidFill>
              </a:rPr>
              <a:t>INTRODUÇÃO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BR" sz="3200" dirty="0">
                <a:solidFill>
                  <a:schemeClr val="tx1"/>
                </a:solidFill>
              </a:rPr>
              <a:t>O projeto consiste no desenvolvimento de um jogo de Damas brasileiras em que um jogador humano enfrenta um Agente Inteligente (AI). O propósito é demonstrar a capacidade da máquina de atuar como um adversário estratégico e competitivo, tomando decisões com base no algoritmo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responsável por avaliar possíveis jogadas, prever cenários e escolher aquelas que aumentam suas chances de vitória</a:t>
            </a:r>
            <a:r>
              <a:rPr lang="pt-BR" sz="3100" dirty="0">
                <a:solidFill>
                  <a:schemeClr val="tx1"/>
                </a:solidFill>
              </a:rPr>
              <a:t>.</a:t>
            </a:r>
            <a:br>
              <a:rPr lang="pt-BR" sz="31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Construído em Python 3.x e utilizando a biblioteca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 para interface gráfica e jogabilidade, o sistema busca não apenas oferecer uma experiência funcional, mas também evidenciar o desempenho do AI em partidas contra jogadores humanos.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O objetivo central é implementar e aperfeiçoar o comportamento da máquina para que ela analise o estado do tabuleiro, maximize sua própria pontuação, minimize as oportunidades   do adversário    e      execute      capturas      de      forma     inteligente.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O banner do projeto apresenta esse propósito geral, as tecnologias empregadas, os resultados   obtidos  pelo   AI   e   propostas   de   melhorias  para   evoluções   futuras.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pt-BR" sz="6600" b="1" dirty="0">
                <a:solidFill>
                  <a:schemeClr val="dk1"/>
                </a:solidFill>
              </a:rPr>
              <a:t>METODOLOGIA</a:t>
            </a:r>
            <a:endParaRPr lang="pt-BR" sz="7500" b="1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pt-BR" sz="3200" dirty="0">
                <a:solidFill>
                  <a:schemeClr val="tx1"/>
                </a:solidFill>
              </a:rPr>
              <a:t>O AI funciona a partir do algoritmo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, integrado a um sistema desenvolvido em Python com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, responsável pela interface gráfica e controle do tabuleiro. Após carregar o jogo e posicionar as peças, o AI é configurada para usar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, que analisa jogadas prevendo respostas do adversário. Sempre que é sua vez, o AI identifica todos os movimentos válidos de acordo com as regras das Damas brasileiras, incluindo capturas obrigatórias e promoções a Dama.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A partir desses movimentos,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cria uma árvore de decisão, simulando jogadas futuras e alternando entre maximizar a vantagem do AI e minimizar a vantagem do jogador. Cada estado simulado recebe uma pontuação por meio de uma heurística que avalia fatores como quantidade de peças, domínio do centro, mobilidade e riscos de captura. Quando a profundidade limite é atingida ou um vencedor é encontrado, a simulação retorna o valor heurístico ao nível   anterior.</a:t>
            </a:r>
            <a:br>
              <a:rPr lang="pt-BR" sz="3200" dirty="0">
                <a:solidFill>
                  <a:schemeClr val="tx1"/>
                </a:solidFill>
              </a:rPr>
            </a:br>
            <a:r>
              <a:rPr lang="pt-BR" sz="3200" dirty="0">
                <a:solidFill>
                  <a:schemeClr val="tx1"/>
                </a:solidFill>
              </a:rPr>
              <a:t>Com todos os cenários avaliados, o </a:t>
            </a:r>
            <a:r>
              <a:rPr lang="pt-BR" sz="3200" dirty="0" err="1">
                <a:solidFill>
                  <a:schemeClr val="tx1"/>
                </a:solidFill>
              </a:rPr>
              <a:t>MiniMax</a:t>
            </a:r>
            <a:r>
              <a:rPr lang="pt-BR" sz="3200" dirty="0">
                <a:solidFill>
                  <a:schemeClr val="tx1"/>
                </a:solidFill>
              </a:rPr>
              <a:t> escolhe a jogada com melhor pontuação para a IA, garantindo que ela adote a estratégia mais vantajosa possível mesmo diante das melhores respostas do jogador adversário. A jogada escolhida é então exibida no tabuleiro por meio do </a:t>
            </a:r>
            <a:r>
              <a:rPr lang="pt-BR" sz="3200" dirty="0" err="1">
                <a:solidFill>
                  <a:schemeClr val="tx1"/>
                </a:solidFill>
              </a:rPr>
              <a:t>PyGame</a:t>
            </a:r>
            <a:r>
              <a:rPr lang="pt-BR" sz="3200" dirty="0">
                <a:solidFill>
                  <a:schemeClr val="tx1"/>
                </a:solidFill>
              </a:rPr>
              <a:t>, permitindo que a IA atue como um oponente                                      estratégico                              e                        competitivo.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pt-BR" sz="3200" dirty="0">
                <a:solidFill>
                  <a:schemeClr val="dk1"/>
                </a:solidFill>
              </a:rPr>
              <a:t>  </a:t>
            </a:r>
            <a:endParaRPr sz="3200" dirty="0">
              <a:solidFill>
                <a:schemeClr val="dk1"/>
              </a:solidFill>
            </a:endParaRPr>
          </a:p>
          <a:p>
            <a:pPr marL="0" indent="0" algn="just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pt-BR" sz="4400" b="1" dirty="0">
                <a:solidFill>
                  <a:schemeClr val="dk1"/>
                </a:solidFill>
              </a:rPr>
              <a:t>Figura     1      –      Fluxograma      do     Algoritmo      </a:t>
            </a:r>
            <a:r>
              <a:rPr lang="pt-BR" sz="4400" b="1" dirty="0" err="1">
                <a:solidFill>
                  <a:schemeClr val="dk1"/>
                </a:solidFill>
              </a:rPr>
              <a:t>MiniMax</a:t>
            </a:r>
            <a:r>
              <a:rPr lang="pt-BR" sz="4400" b="1" dirty="0">
                <a:solidFill>
                  <a:schemeClr val="dk1"/>
                </a:solidFill>
              </a:rPr>
              <a:t>:</a:t>
            </a:r>
            <a:endParaRPr lang="pt-BR" sz="44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/>
          </a:p>
        </p:txBody>
      </p:sp>
      <p:sp>
        <p:nvSpPr>
          <p:cNvPr id="24" name="Google Shape;24;p1"/>
          <p:cNvSpPr txBox="1"/>
          <p:nvPr/>
        </p:nvSpPr>
        <p:spPr>
          <a:xfrm>
            <a:off x="16202025" y="7653912"/>
            <a:ext cx="15576604" cy="3202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o momento, foram analisadas aproximadamente 35 partidas realizadas pela  equipe. Desse  total,  </a:t>
            </a: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AI</a:t>
            </a: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venceu  cerca  de  85,71%  dos  jogos,  enquanto  jogadores   humanos venceram   14,29%   das   partidas. Em   número s  absolutos,   </a:t>
            </a: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AI </a:t>
            </a:r>
            <a:r>
              <a:rPr lang="pt-BR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acumulou   cerca  de 30 vitórias, enquanto  os  jogadores  humanos  obtiveram  aproximadamente  5  vitórias.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ponto importante observado é que, em todas as vezes em que  um jogador  humano venceu, a vitória ocorreu após a promoção de uma peça à Dama, o que indica um fator decisivo                para                superar                 a                estratégia              do              AI.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pt-BR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Tabela              1                –               Tabela                    Resultados:</a:t>
            </a:r>
            <a:endParaRPr sz="8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 – Tela do jogo de Damas em funcionamento com interação                entre                   jogador                  e              AI:</a:t>
            </a:r>
            <a:endParaRPr sz="4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sz="9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 observado que, independentemente das jogadas possíveis, o AI tende a tomar decisões táticas altamente eficientes. Ela avalia cada situação e, quando necessário, sacrifica uma peça para obter vantagens maiores, como capturar duas ou mais peças em troca,          sempre          priorizando          a         maximização         de         oportunidades.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Notou-se também que, nas poucas ocasiões em que um jogador humano conseguiu vencer o AI, isso ocorreu após a promoção de uma peça à Dama. Esse comportamento indica um possível ponto vulnerável do algoritmo ao lidar com peças promovidas do adversário.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Outro aspecto identificado foi um padrão recorrente: após o jogador humano alcançar a Dama e realizar novas jogadas, o AI frequentemente insistia na mesma sequência de movimentos com o objetivo de promover uma peça. Essa repetição parecia ter como finalidade impedir que o oponente continuasse a capturar suas peças, mas acabava revelando         uma         limitação        estratégica         em          situações         específicas.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394977" y="40381083"/>
            <a:ext cx="30750000" cy="263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50" tIns="216025" rIns="432050" bIns="216025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pt-BR" sz="6600" b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sz="2800" b="1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3200" b="1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um agente inteligente para jogos de tabuleiro utilizando o algoritmo </a:t>
            </a:r>
            <a:r>
              <a:rPr lang="pt-BR" sz="32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MiniMax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Universidade Federal de Uberlândia. Disponível em:</a:t>
            </a:r>
            <a:r>
              <a:rPr lang="pt-BR" sz="3200" i="1" dirty="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sz="3200" i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https://repositorio.ufu.br/handle/123456789/18354</a:t>
            </a:r>
            <a:r>
              <a:rPr lang="pt-BR" sz="3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Acesso em: 08 nov. 2025.</a:t>
            </a:r>
            <a:endParaRPr sz="3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1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 descr="Diagrama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91884" y="692779"/>
            <a:ext cx="7724775" cy="3553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4034" y="1299271"/>
            <a:ext cx="10612836" cy="236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18894" y="21090226"/>
            <a:ext cx="11117906" cy="981826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152400" y="-32266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2" name="Google Shape;32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80804" y="13984468"/>
            <a:ext cx="11117895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425E955-80C9-7F1C-A70B-233B73D7F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77" y="27789188"/>
            <a:ext cx="11091893" cy="1250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786</Words>
  <Application>Microsoft Office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Inteligência Artificial    GUILHERME ORNELLAS CARVALHO; JOÃO VICTOR MORAES LEITE; JORGE HENRIQUE RAMOS GANDOFI; LUCAS CARVALHO SANTIAGO; VICTOR OLIVEIRA CERQUEIRA; Orientador ADAILTON CERQUEIRA JUNIOR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Tristao</dc:creator>
  <cp:lastModifiedBy>Victor Oliveira Cerqueira</cp:lastModifiedBy>
  <cp:revision>5</cp:revision>
  <cp:lastPrinted>2025-11-21T21:55:47Z</cp:lastPrinted>
  <dcterms:created xsi:type="dcterms:W3CDTF">2011-04-07T11:05:01Z</dcterms:created>
  <dcterms:modified xsi:type="dcterms:W3CDTF">2025-11-22T00:52:23Z</dcterms:modified>
</cp:coreProperties>
</file>